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 %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Test 1</c:v>
                  </c:pt>
                  <c:pt idx="1">
                    <c:v>Test 2</c:v>
                  </c:pt>
                  <c:pt idx="2">
                    <c:v>Test 3</c:v>
                  </c:pt>
                  <c:pt idx="3">
                    <c:v>Test 4</c:v>
                  </c:pt>
                  <c:pt idx="4">
                    <c:v>Test 5</c:v>
                  </c:pt>
                  <c:pt idx="5">
                    <c:v>Test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61</c:v>
                </c:pt>
                <c:pt idx="2">
                  <c:v>66</c:v>
                </c:pt>
                <c:pt idx="3">
                  <c:v>72</c:v>
                </c:pt>
                <c:pt idx="4">
                  <c:v>78</c:v>
                </c:pt>
                <c:pt idx="5">
                  <c:v>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3C7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2B307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3C7E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F38"/>
        </a:solidFill>
        <a:ln>
          <a:noFill/>
        </a:ln>
        <a:effectLst/>
      </c:spPr>
    </c:plotArea>
    <c:plotVisOnly val="1"/>
    <c:dispBlanksAs val="span"/>
  </c:chart>
  <c:spPr>
    <a:solidFill>
      <a:srgbClr val="0C0F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adoring-meitner/mnt/outputs/assets/logo_mule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286000" cy="713232"/>
          </a:xfrm>
          <a:prstGeom prst="rect">
            <a:avLst/>
          </a:prstGeom>
        </p:spPr>
      </p:pic>
      <p:pic>
        <p:nvPicPr>
          <p:cNvPr id="3" name="Image 1" descr="/sessions/modest-adoring-meitner/mnt/outputs/assets/mascot_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48840"/>
            <a:ext cx="3383280" cy="3383280"/>
          </a:xfrm>
          <a:prstGeom prst="rect">
            <a:avLst/>
          </a:prstGeom>
        </p:spPr>
      </p:pic>
      <p:pic>
        <p:nvPicPr>
          <p:cNvPr id="4" name="Image 2" descr="/sessions/modest-adoring-meitner/mnt/outputs/assets/spark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554480"/>
            <a:ext cx="640080" cy="6400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58368" y="1600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0C0F38">
              <a:alpha val="9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3" descr="/sessions/modest-adoring-meitner/mnt/outputs/assets/tog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1700784"/>
            <a:ext cx="548640" cy="23774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81328" y="1673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ENABLEMENT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640080" y="2240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Certification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Playground</a:t>
            </a:r>
            <a:endParaRPr lang="en-US" sz="4200" dirty="0"/>
          </a:p>
        </p:txBody>
      </p:sp>
      <p:sp>
        <p:nvSpPr>
          <p:cNvPr id="9" name="Text 3"/>
          <p:cNvSpPr/>
          <p:nvPr/>
        </p:nvSpPr>
        <p:spPr>
          <a:xfrm>
            <a:off x="658368" y="3794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self-service practice and exam-simulation environment that builds certification readiness across the Salesforce ecosystem.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58368" y="4526280"/>
            <a:ext cx="7543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 teams need certifications quickly, yet real exams are high-stakes and quality study material is scattered. This playground gives every team member unlimited, realistic practice, grows a shared question bank through community contribution, and applies agentic AI with built-in legal and quality safeguards to keep all content clean and defensible.</a:t>
            </a:r>
            <a:endParaRPr lang="en-US" sz="1350" dirty="0"/>
          </a:p>
        </p:txBody>
      </p:sp>
      <p:pic>
        <p:nvPicPr>
          <p:cNvPr id="11" name="Image 4" descr="/sessions/modest-adoring-meitner/mnt/outputs/assets/togg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989320"/>
            <a:ext cx="457200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07008" y="5961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 Enablement   |   Executive briefing for EVP &amp; VP sponsors   | 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adoring-meitner/mnt/outputs/assets/logo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566928" cy="566928"/>
          </a:xfrm>
          <a:prstGeom prst="rect">
            <a:avLst/>
          </a:prstGeom>
        </p:spPr>
      </p:pic>
      <p:pic>
        <p:nvPicPr>
          <p:cNvPr id="3" name="Image 1" descr="/sessions/modest-adoring-meitner/mnt/outputs/assets/tog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5216"/>
            <a:ext cx="566928" cy="2468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588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40080" y="8961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 exam before the exam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is gated by confidence and repetition. The playground gives every team member a safe, repeatable place to build both, with two modes that mirror the real journey.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640080" y="23774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" y="2633472"/>
            <a:ext cx="777240" cy="77724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43" y="2843327"/>
            <a:ext cx="357530" cy="3575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1952" y="27249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mode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901952" y="3154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Open-book style with instant per-question feedback and explanations. Learn the reasoning behind every answer.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309360" y="23774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601968" y="2633472"/>
            <a:ext cx="777240" cy="77724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823" y="2843327"/>
            <a:ext cx="357530" cy="3575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71232" y="27249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Exam-simulation mode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7571232" y="3154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Timed, no mid-test feedback, real passing-score thresholds. A faithful dress rehearsal for the live exam.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4251960"/>
            <a:ext cx="3593592" cy="2057400"/>
          </a:xfrm>
          <a:prstGeom prst="roundRect">
            <a:avLst>
              <a:gd name="adj" fmla="val 4444"/>
            </a:avLst>
          </a:prstGeom>
          <a:solidFill>
            <a:srgbClr val="0C0F38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40080" y="4251960"/>
            <a:ext cx="3593592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Shape 13"/>
          <p:cNvSpPr/>
          <p:nvPr/>
        </p:nvSpPr>
        <p:spPr>
          <a:xfrm>
            <a:off x="932688" y="45262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510" y="4699102"/>
            <a:ext cx="294437" cy="29443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2688" y="5230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attempts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932688" y="5596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seat limits and no cost per attempt. Practice until it sticks.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416552" y="4251960"/>
            <a:ext cx="3593592" cy="2057400"/>
          </a:xfrm>
          <a:prstGeom prst="roundRect">
            <a:avLst>
              <a:gd name="adj" fmla="val 4444"/>
            </a:avLst>
          </a:prstGeom>
          <a:solidFill>
            <a:srgbClr val="0C0F38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416552" y="4251960"/>
            <a:ext cx="3593592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Shape 18"/>
          <p:cNvSpPr/>
          <p:nvPr/>
        </p:nvSpPr>
        <p:spPr>
          <a:xfrm>
            <a:off x="4709160" y="45262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1982" y="4699102"/>
            <a:ext cx="294437" cy="29443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709160" y="5230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certs, one platform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709160" y="5596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Agentforce, Data Cloud, MuleSoft, and certs beyond Salesforce.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8193024" y="4251960"/>
            <a:ext cx="3593592" cy="2057400"/>
          </a:xfrm>
          <a:prstGeom prst="roundRect">
            <a:avLst>
              <a:gd name="adj" fmla="val 4444"/>
            </a:avLst>
          </a:prstGeom>
          <a:solidFill>
            <a:srgbClr val="0C0F38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193024" y="4251960"/>
            <a:ext cx="3593592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Shape 23"/>
          <p:cNvSpPr/>
          <p:nvPr/>
        </p:nvSpPr>
        <p:spPr>
          <a:xfrm>
            <a:off x="8485632" y="45262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8454" y="4699102"/>
            <a:ext cx="294437" cy="29443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485632" y="5230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Readiness, not cramming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485632" y="5596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questions and broad topic coverage reduce memorization.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adoring-meitner/mnt/outputs/assets/logo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566928" cy="566928"/>
          </a:xfrm>
          <a:prstGeom prst="rect">
            <a:avLst/>
          </a:prstGeom>
        </p:spPr>
      </p:pic>
      <p:pic>
        <p:nvPicPr>
          <p:cNvPr id="3" name="Image 1" descr="/sessions/modest-adoring-meitner/mnt/outputs/assets/tog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5216"/>
            <a:ext cx="566928" cy="2468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588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&amp; EFFORTLESS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40080" y="8961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a screenshot, agentic AI does the rest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study material is as easy as taking a screenshot. Agentic AI reads the image, PDF, or text and turns it into clean, structured practice questions, with no manual data entry.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640080" y="233172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40080" y="2331720"/>
            <a:ext cx="2697480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5"/>
          <p:cNvSpPr/>
          <p:nvPr/>
        </p:nvSpPr>
        <p:spPr>
          <a:xfrm>
            <a:off x="1531620" y="2651760"/>
            <a:ext cx="914400" cy="9144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508" y="2898648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36393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40080" y="3913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2960" y="43342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 screenshot, PDF, or text. That is the whole workflow.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319272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3502152" y="233172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02152" y="2331720"/>
            <a:ext cx="2697480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Shape 12"/>
          <p:cNvSpPr/>
          <p:nvPr/>
        </p:nvSpPr>
        <p:spPr>
          <a:xfrm>
            <a:off x="4393692" y="2651760"/>
            <a:ext cx="914400" cy="9144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289864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02152" y="36393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3502152" y="3913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685032" y="43342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language model pulls out questions, options, and topics automatically.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181344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6364224" y="233172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64224" y="2331720"/>
            <a:ext cx="2697480" cy="91440"/>
          </a:xfrm>
          <a:prstGeom prst="rect">
            <a:avLst/>
          </a:prstGeom>
          <a:solidFill>
            <a:srgbClr val="7ED957"/>
          </a:solidFill>
          <a:ln/>
        </p:spPr>
      </p:sp>
      <p:sp>
        <p:nvSpPr>
          <p:cNvPr id="25" name="Shape 19"/>
          <p:cNvSpPr/>
          <p:nvPr/>
        </p:nvSpPr>
        <p:spPr>
          <a:xfrm>
            <a:off x="7255764" y="265176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652" y="289864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64224" y="36393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364224" y="3913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Auto-screened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547104" y="43342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model flags possible leaked or paid dump content for review.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9043416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4"/>
          <p:cNvSpPr/>
          <p:nvPr/>
        </p:nvSpPr>
        <p:spPr>
          <a:xfrm>
            <a:off x="9226296" y="233172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9226296" y="2331720"/>
            <a:ext cx="2697480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3" name="Shape 26"/>
          <p:cNvSpPr/>
          <p:nvPr/>
        </p:nvSpPr>
        <p:spPr>
          <a:xfrm>
            <a:off x="10117836" y="2651760"/>
            <a:ext cx="914400" cy="9144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4724" y="2898648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26296" y="36393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9226296" y="3913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approves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9409176" y="43342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makes the final call before questions go live.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640080" y="5349240"/>
            <a:ext cx="10899648" cy="914400"/>
          </a:xfrm>
          <a:prstGeom prst="roundRect">
            <a:avLst>
              <a:gd name="adj" fmla="val 10000"/>
            </a:avLst>
          </a:prstGeom>
          <a:solidFill>
            <a:srgbClr val="0C0F38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68680" y="5532120"/>
            <a:ext cx="548640" cy="548640"/>
          </a:xfrm>
          <a:prstGeom prst="ellipse">
            <a:avLst/>
          </a:prstGeom>
          <a:solidFill>
            <a:srgbClr val="7ED957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813" y="5680253"/>
            <a:ext cx="252374" cy="25237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554480" y="5468112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Cost-controlled by design.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model handles screening, a higher-accuracy model runs only where extraction quality matters, and a daily AI budget guardrail pauses processing before costs run away.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adoring-meitner/mnt/outputs/assets/logo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566928" cy="566928"/>
          </a:xfrm>
          <a:prstGeom prst="rect">
            <a:avLst/>
          </a:prstGeom>
        </p:spPr>
      </p:pic>
      <p:pic>
        <p:nvPicPr>
          <p:cNvPr id="3" name="Image 1" descr="/sessions/modest-adoring-meitner/mnt/outputs/assets/tog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5216"/>
            <a:ext cx="566928" cy="2468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588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QUALITY SAFEGUARDS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40080" y="8961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dumps. No paid content. Defensible by design.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640080" y="1691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Leadership's top concern is protecting Salesforce from legal exposure. The platform treats that as a first-class requirement, with multiple layers that keep leaked or paid exam content out of the question bank.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0080" y="2395728"/>
            <a:ext cx="5449824" cy="1865376"/>
          </a:xfrm>
          <a:prstGeom prst="roundRect">
            <a:avLst>
              <a:gd name="adj" fmla="val 4902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40080" y="2395728"/>
            <a:ext cx="91440" cy="1865376"/>
          </a:xfrm>
          <a:prstGeom prst="rect">
            <a:avLst/>
          </a:prstGeom>
          <a:solidFill>
            <a:srgbClr val="7ED957"/>
          </a:solidFill>
          <a:ln/>
        </p:spPr>
      </p:sp>
      <p:sp>
        <p:nvSpPr>
          <p:cNvPr id="9" name="Shape 5"/>
          <p:cNvSpPr/>
          <p:nvPr/>
        </p:nvSpPr>
        <p:spPr>
          <a:xfrm>
            <a:off x="932688" y="2706624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" y="2904134"/>
            <a:ext cx="336499" cy="3364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47088" y="267004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dump-check screening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847088" y="3145536"/>
            <a:ext cx="4032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upload is screened by an LLM and labeled clean, suspicious, or dump. Anything reading like real exam questions is caught.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72784" y="2395728"/>
            <a:ext cx="5449824" cy="1865376"/>
          </a:xfrm>
          <a:prstGeom prst="roundRect">
            <a:avLst>
              <a:gd name="adj" fmla="val 4902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272784" y="2395728"/>
            <a:ext cx="91440" cy="1865376"/>
          </a:xfrm>
          <a:prstGeom prst="rect">
            <a:avLst/>
          </a:prstGeom>
          <a:solidFill>
            <a:srgbClr val="7ED957"/>
          </a:solidFill>
          <a:ln/>
        </p:spPr>
      </p:sp>
      <p:sp>
        <p:nvSpPr>
          <p:cNvPr id="15" name="Shape 10"/>
          <p:cNvSpPr/>
          <p:nvPr/>
        </p:nvSpPr>
        <p:spPr>
          <a:xfrm>
            <a:off x="6565392" y="2706624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2" y="2904134"/>
            <a:ext cx="336499" cy="3364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79792" y="267004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479792" y="3145536"/>
            <a:ext cx="4032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uploads carry a visible warning and route to an admin queue. A person, not the AI, makes the final approve or reject call.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4407408"/>
            <a:ext cx="5449824" cy="1865376"/>
          </a:xfrm>
          <a:prstGeom prst="roundRect">
            <a:avLst>
              <a:gd name="adj" fmla="val 4902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4407408"/>
            <a:ext cx="91440" cy="1865376"/>
          </a:xfrm>
          <a:prstGeom prst="rect">
            <a:avLst/>
          </a:prstGeom>
          <a:solidFill>
            <a:srgbClr val="7ED957"/>
          </a:solidFill>
          <a:ln/>
        </p:spPr>
      </p:sp>
      <p:sp>
        <p:nvSpPr>
          <p:cNvPr id="21" name="Shape 15"/>
          <p:cNvSpPr/>
          <p:nvPr/>
        </p:nvSpPr>
        <p:spPr>
          <a:xfrm>
            <a:off x="932688" y="4718304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198" y="4915814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47088" y="468172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allow-list and block-list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847088" y="5157216"/>
            <a:ext cx="4032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companion crawler ingests only public, free study material, respects robots.txt, and hard-blocks known dump sites.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272784" y="4407408"/>
            <a:ext cx="5449824" cy="1865376"/>
          </a:xfrm>
          <a:prstGeom prst="roundRect">
            <a:avLst>
              <a:gd name="adj" fmla="val 4902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272784" y="4407408"/>
            <a:ext cx="91440" cy="1865376"/>
          </a:xfrm>
          <a:prstGeom prst="rect">
            <a:avLst/>
          </a:prstGeom>
          <a:solidFill>
            <a:srgbClr val="7ED957"/>
          </a:solidFill>
          <a:ln/>
        </p:spPr>
      </p:sp>
      <p:sp>
        <p:nvSpPr>
          <p:cNvPr id="27" name="Shape 20"/>
          <p:cNvSpPr/>
          <p:nvPr/>
        </p:nvSpPr>
        <p:spPr>
          <a:xfrm>
            <a:off x="6565392" y="4718304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902" y="4915814"/>
            <a:ext cx="336499" cy="33649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79792" y="468172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quality feedback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7479792" y="5157216"/>
            <a:ext cx="4032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roles vote with reasons on every question, and feedback aggregates into quality reports that retire weak content.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adoring-meitner/mnt/outputs/assets/logo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566928" cy="566928"/>
          </a:xfrm>
          <a:prstGeom prst="rect">
            <a:avLst/>
          </a:prstGeom>
        </p:spPr>
      </p:pic>
      <p:pic>
        <p:nvPicPr>
          <p:cNvPr id="3" name="Image 1" descr="/sessions/modest-adoring-meitner/mnt/outputs/assets/tog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5216"/>
            <a:ext cx="566928" cy="2468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588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OF PRACTICE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40080" y="8961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contributes, the bank gets stronger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640080" y="1691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member who uploads a study set makes the platform better for the next person. A shared, crowdsourced question bank with built-in roles turns individual prep into collective acceleration.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0080" y="2395728"/>
            <a:ext cx="5852160" cy="3913632"/>
          </a:xfrm>
          <a:prstGeom prst="roundRect">
            <a:avLst>
              <a:gd name="adj" fmla="val 2336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2578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that keep quality high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914400" y="312724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3275381"/>
            <a:ext cx="252374" cy="2523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9344" y="3108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tests and contribute study material.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914400" y="390448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3" y="4052621"/>
            <a:ext cx="252374" cy="25237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9344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Verifiers 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with a required reason, feeding quality control.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914400" y="468172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3" y="4829861"/>
            <a:ext cx="252374" cy="25237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09344" y="4663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admins 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and approve questions for their assigned cert.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914400" y="545896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3" y="5607101"/>
            <a:ext cx="252374" cy="25237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609344" y="5440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admins 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users, roles, and platform-wide settings.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6675120" y="2395728"/>
            <a:ext cx="4864608" cy="3913632"/>
          </a:xfrm>
          <a:prstGeom prst="roundRect">
            <a:avLst>
              <a:gd name="adj" fmla="val 2336"/>
            </a:avLst>
          </a:prstGeom>
          <a:solidFill>
            <a:srgbClr val="0C0F38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6949440" y="25786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accelerates certification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6949440" y="3145536"/>
            <a:ext cx="457200" cy="457200"/>
          </a:xfrm>
          <a:prstGeom prst="ellipse">
            <a:avLst/>
          </a:prstGeom>
          <a:solidFill>
            <a:srgbClr val="7ED957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2884" y="3268980"/>
            <a:ext cx="210312" cy="2103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16368" y="30906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bank.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contributors lead to more coverage and faster prep for all.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949440" y="3913632"/>
            <a:ext cx="457200" cy="457200"/>
          </a:xfrm>
          <a:prstGeom prst="ellipse">
            <a:avLst/>
          </a:prstGeom>
          <a:solidFill>
            <a:srgbClr val="7ED957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2884" y="4037076"/>
            <a:ext cx="210312" cy="21031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516368" y="38587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Shared, not siloed.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that used to live in one person's notes is now reusable.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6949440" y="4681728"/>
            <a:ext cx="457200" cy="457200"/>
          </a:xfrm>
          <a:prstGeom prst="ellipse">
            <a:avLst/>
          </a:prstGeom>
          <a:solidFill>
            <a:srgbClr val="7ED957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2884" y="4805172"/>
            <a:ext cx="210312" cy="21031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516368" y="46268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Peer-validated.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surfaces the best questions and retires the weak ones.</a:t>
            </a:r>
            <a:endParaRPr lang="en-US" sz="1150" dirty="0"/>
          </a:p>
        </p:txBody>
      </p:sp>
      <p:sp>
        <p:nvSpPr>
          <p:cNvPr id="32" name="Shape 21"/>
          <p:cNvSpPr/>
          <p:nvPr/>
        </p:nvSpPr>
        <p:spPr>
          <a:xfrm>
            <a:off x="6949440" y="5449824"/>
            <a:ext cx="457200" cy="457200"/>
          </a:xfrm>
          <a:prstGeom prst="ellipse">
            <a:avLst/>
          </a:prstGeom>
          <a:solidFill>
            <a:srgbClr val="7ED957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2884" y="5573268"/>
            <a:ext cx="210312" cy="21031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516368" y="5394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momentum.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hit certification milestones together, not one by one.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adoring-meitner/mnt/outputs/assets/logo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566928" cy="566928"/>
          </a:xfrm>
          <a:prstGeom prst="rect">
            <a:avLst/>
          </a:prstGeom>
        </p:spPr>
      </p:pic>
      <p:pic>
        <p:nvPicPr>
          <p:cNvPr id="3" name="Image 1" descr="/sessions/modest-adoring-meitner/mnt/outputs/assets/tog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5216"/>
            <a:ext cx="566928" cy="2468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588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SCALE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40080" y="8961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progress, then scale beyond PS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640080" y="1737360"/>
            <a:ext cx="3593592" cy="1737360"/>
          </a:xfrm>
          <a:prstGeom prst="roundRect">
            <a:avLst>
              <a:gd name="adj" fmla="val 5263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" y="1975104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159" y="2152863"/>
            <a:ext cx="302849" cy="3028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19072" y="20665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taken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32688" y="270662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attempt counts across practice and exam modes.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416552" y="1737360"/>
            <a:ext cx="3593592" cy="1737360"/>
          </a:xfrm>
          <a:prstGeom prst="roundRect">
            <a:avLst>
              <a:gd name="adj" fmla="val 5263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90872" y="1975104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631" y="2152863"/>
            <a:ext cx="302849" cy="3028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95544" y="20665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trend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709160" y="270662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Score-over-time charts show who is getting exam-ready.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193024" y="1737360"/>
            <a:ext cx="3593592" cy="1737360"/>
          </a:xfrm>
          <a:prstGeom prst="roundRect">
            <a:avLst>
              <a:gd name="adj" fmla="val 5263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467344" y="1975104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5103" y="2152863"/>
            <a:ext cx="302849" cy="3028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272016" y="20665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areas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485632" y="270662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breakdowns pinpoint exactly where mistakes cluster.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40080" y="3657600"/>
            <a:ext cx="5532120" cy="2651760"/>
          </a:xfrm>
          <a:prstGeom prst="roundRect">
            <a:avLst>
              <a:gd name="adj" fmla="val 3448"/>
            </a:avLst>
          </a:prstGeom>
          <a:solidFill>
            <a:srgbClr val="0C0F38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6868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readiness trend</a:t>
            </a:r>
            <a:endParaRPr lang="en-US" sz="13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77240" y="4206240"/>
          <a:ext cx="52578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4" name="Shape 16"/>
          <p:cNvSpPr/>
          <p:nvPr/>
        </p:nvSpPr>
        <p:spPr>
          <a:xfrm>
            <a:off x="6355080" y="3657600"/>
            <a:ext cx="5184648" cy="2651760"/>
          </a:xfrm>
          <a:prstGeom prst="roundRect">
            <a:avLst>
              <a:gd name="adj" fmla="val 3448"/>
            </a:avLst>
          </a:prstGeom>
          <a:solidFill>
            <a:srgbClr val="121645">
              <a:alpha val="86000"/>
            </a:srgbClr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583680" y="385876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6502" y="4031590"/>
            <a:ext cx="294437" cy="29443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6092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Professional Services</a:t>
            </a:r>
            <a:endParaRPr lang="en-US" sz="1550" dirty="0"/>
          </a:p>
        </p:txBody>
      </p:sp>
      <p:sp>
        <p:nvSpPr>
          <p:cNvPr id="28" name="Text 19"/>
          <p:cNvSpPr/>
          <p:nvPr/>
        </p:nvSpPr>
        <p:spPr>
          <a:xfrm>
            <a:off x="6583680" y="45720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Cert-agnostic by design, the platform already runs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and TOGAF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3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alongside Salesforce. Any team with a certification goal can adopt it: Sales, Customer Success, partners, and new-hire onboarding.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583680" y="5596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a pilot within your org and nominate a domain admin to seed your certs.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Salesforce Certification Practice Playground</dc:title>
  <dc:subject>PptxGenJS Presentation</dc:subject>
  <dc:creator>Professional Services Enablement</dc:creator>
  <cp:lastModifiedBy>Professional Services Enablement</cp:lastModifiedBy>
  <cp:revision>1</cp:revision>
  <dcterms:created xsi:type="dcterms:W3CDTF">2026-06-02T03:29:32Z</dcterms:created>
  <dcterms:modified xsi:type="dcterms:W3CDTF">2026-06-02T03:29:32Z</dcterms:modified>
</cp:coreProperties>
</file>